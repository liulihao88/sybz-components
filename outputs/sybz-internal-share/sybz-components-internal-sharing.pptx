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92b5ea02e4caf" /><Relationship Type="http://schemas.openxmlformats.org/officeDocument/2006/relationships/extended-properties" Target="/docProps/app.xml" Id="R575faf45d3ca496b" /><Relationship Type="http://schemas.openxmlformats.org/officeDocument/2006/relationships/officeDocument" Target="/ppt/presentation.xml" Id="R2b7500dbe8ee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c2870245d42c2"/>
  </p:sldMasterIdLst>
  <p:notesMasterIdLst>
    <p:notesMasterId xmlns:r="http://schemas.openxmlformats.org/officeDocument/2006/relationships" r:id="R2f1fe26c1b254d53"/>
  </p:notesMasterIdLst>
  <p:sldIdLst>
    <p:sldId xmlns:r="http://schemas.openxmlformats.org/officeDocument/2006/relationships" id="256" r:id="R4dc573156c094458"/>
    <p:sldId xmlns:r="http://schemas.openxmlformats.org/officeDocument/2006/relationships" id="257" r:id="R41bb3a96f80440ff"/>
    <p:sldId xmlns:r="http://schemas.openxmlformats.org/officeDocument/2006/relationships" id="258" r:id="R2aa5a73d72594bcc"/>
    <p:sldId xmlns:r="http://schemas.openxmlformats.org/officeDocument/2006/relationships" id="259" r:id="R851c0594b39b4faf"/>
    <p:sldId xmlns:r="http://schemas.openxmlformats.org/officeDocument/2006/relationships" id="260" r:id="R0d7ff526f3a247e1"/>
    <p:sldId xmlns:r="http://schemas.openxmlformats.org/officeDocument/2006/relationships" id="261" r:id="R83c59145b6a64919"/>
    <p:sldId xmlns:r="http://schemas.openxmlformats.org/officeDocument/2006/relationships" id="262" r:id="Rce9adfa7da7a40e0"/>
    <p:sldId xmlns:r="http://schemas.openxmlformats.org/officeDocument/2006/relationships" id="263" r:id="R85a0cb0c6a3545c6"/>
    <p:sldId xmlns:r="http://schemas.openxmlformats.org/officeDocument/2006/relationships" id="264" r:id="R0fe05a585f8743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c2870245d42c2" /><Relationship Type="http://schemas.openxmlformats.org/officeDocument/2006/relationships/theme" Target="/ppt/theme/theme1.xml" Id="Rf27d6659084c4744" /><Relationship Type="http://schemas.openxmlformats.org/officeDocument/2006/relationships/notesMaster" Target="/ppt/notesMasters/notesMaster1.xml" Id="R2f1fe26c1b254d53" /><Relationship Type="http://schemas.openxmlformats.org/officeDocument/2006/relationships/presProps" Target="/ppt/presProps.xml" Id="R1a7d9ed1dbb54bb5" /><Relationship Type="http://schemas.openxmlformats.org/officeDocument/2006/relationships/viewProps" Target="/ppt/viewProps.xml" Id="Rb012f47610644b3b" /><Relationship Type="http://schemas.openxmlformats.org/officeDocument/2006/relationships/tableStyles" Target="/ppt/tableStyles.xml" Id="R376f7d714bfc4d92" /><Relationship Type="http://schemas.openxmlformats.org/officeDocument/2006/relationships/slide" Target="/ppt/slides/slide1.xml" Id="R4dc573156c094458" /><Relationship Type="http://schemas.openxmlformats.org/officeDocument/2006/relationships/slide" Target="/ppt/slides/slide2.xml" Id="R41bb3a96f80440ff" /><Relationship Type="http://schemas.openxmlformats.org/officeDocument/2006/relationships/slide" Target="/ppt/slides/slide3.xml" Id="R2aa5a73d72594bcc" /><Relationship Type="http://schemas.openxmlformats.org/officeDocument/2006/relationships/slide" Target="/ppt/slides/slide4.xml" Id="R851c0594b39b4faf" /><Relationship Type="http://schemas.openxmlformats.org/officeDocument/2006/relationships/slide" Target="/ppt/slides/slide5.xml" Id="R0d7ff526f3a247e1" /><Relationship Type="http://schemas.openxmlformats.org/officeDocument/2006/relationships/slide" Target="/ppt/slides/slide6.xml" Id="R83c59145b6a64919" /><Relationship Type="http://schemas.openxmlformats.org/officeDocument/2006/relationships/slide" Target="/ppt/slides/slide7.xml" Id="Rce9adfa7da7a40e0" /><Relationship Type="http://schemas.openxmlformats.org/officeDocument/2006/relationships/slide" Target="/ppt/slides/slide8.xml" Id="R85a0cb0c6a3545c6" /><Relationship Type="http://schemas.openxmlformats.org/officeDocument/2006/relationships/slide" Target="/ppt/slides/slide9.xml" Id="R0fe05a585f87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69ef5fd78b349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ybz">
  <a:themeElements>
    <a:clrScheme name="Sybz">
      <a:accent1>
        <a:srgbClr val="165DFF"/>
      </a:accent1>
      <a:accent2>
        <a:srgbClr val="00B8D4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bz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d6ce1d54c4c6e" /><Relationship Type="http://schemas.openxmlformats.org/officeDocument/2006/relationships/notesMaster" Target="/ppt/notesMasters/notesMaster1.xml" Id="R2f133960595c44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82a9d6aff048ab" /><Relationship Type="http://schemas.openxmlformats.org/officeDocument/2006/relationships/notesMaster" Target="/ppt/notesMasters/notesMaster1.xml" Id="R8e16d44aede049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4653741d5435f" /><Relationship Type="http://schemas.openxmlformats.org/officeDocument/2006/relationships/notesMaster" Target="/ppt/notesMasters/notesMaster1.xml" Id="R7df5441ccb3a41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81c59ca034037" /><Relationship Type="http://schemas.openxmlformats.org/officeDocument/2006/relationships/notesMaster" Target="/ppt/notesMasters/notesMaster1.xml" Id="Ra1ab8851851a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c4467854b455d" /><Relationship Type="http://schemas.openxmlformats.org/officeDocument/2006/relationships/notesMaster" Target="/ppt/notesMasters/notesMaster1.xml" Id="R10735538f0fa4f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3b854b963e4354" /><Relationship Type="http://schemas.openxmlformats.org/officeDocument/2006/relationships/notesMaster" Target="/ppt/notesMasters/notesMaster1.xml" Id="R177bcbb9e0884b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b6d64ca1a4c1f" /><Relationship Type="http://schemas.openxmlformats.org/officeDocument/2006/relationships/notesMaster" Target="/ppt/notesMasters/notesMaster1.xml" Id="R3fa4b4934a26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ebb53e44d4223" /><Relationship Type="http://schemas.openxmlformats.org/officeDocument/2006/relationships/notesMaster" Target="/ppt/notesMasters/notesMaster1.xml" Id="Re6510e118c4d49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f85e95a6324030" /><Relationship Type="http://schemas.openxmlformats.org/officeDocument/2006/relationships/notesMaster" Target="/ppt/notesMasters/notesMaster1.xml" Id="R75f94db5097a4e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先从大家熟悉的重复开发体验切入，再介绍组件库如何成为项目基础设施。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cceef973c40a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46C4A43-5FBD-4F7F-9DA1-6FC01B15372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9EAA44-BFC9-413A-8D88-156B1D2D2B8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EC070-8CEA-4264-AA73-6BA9CADA7B0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B1C842-F672-4E36-8987-D22530DE0F0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a8e6da7d48407f" /><Relationship Type="http://schemas.openxmlformats.org/officeDocument/2006/relationships/slideLayout" Target="/ppt/slideLayouts/slideLayout2.xml" Id="Raeba381d1f86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DBF782-B631-4A79-BE4A-E1B09E994AA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a381d1f86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c252606c5d47b5" /><Relationship Type="http://schemas.openxmlformats.org/officeDocument/2006/relationships/image" Target="/ppt/media/image.bin" Id="R992d21a95a0049b3" /><Relationship Type="http://schemas.openxmlformats.org/officeDocument/2006/relationships/notesSlide" Target="/ppt/notesSlides/notesSlide1.xml" Id="Rd5d7c40a5b38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5f0142fdc4927" /><Relationship Type="http://schemas.openxmlformats.org/officeDocument/2006/relationships/notesSlide" Target="/ppt/notesSlides/notesSlide2.xml" Id="R040c09d37f9c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78a0961cf743da" /><Relationship Type="http://schemas.openxmlformats.org/officeDocument/2006/relationships/notesSlide" Target="/ppt/notesSlides/notesSlide3.xml" Id="R0d1050e6f861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9d0247a11472d" /><Relationship Type="http://schemas.openxmlformats.org/officeDocument/2006/relationships/notesSlide" Target="/ppt/notesSlides/notesSlide4.xml" Id="R6bbfc7d4c1114f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16e372b0d4a20" /><Relationship Type="http://schemas.openxmlformats.org/officeDocument/2006/relationships/notesSlide" Target="/ppt/notesSlides/notesSlide5.xml" Id="Rdba4cd130faa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a2739ad0ec4bd0" /><Relationship Type="http://schemas.openxmlformats.org/officeDocument/2006/relationships/notesSlide" Target="/ppt/notesSlides/notesSlide6.xml" Id="R85afd9138d7245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fb122a9024580" /><Relationship Type="http://schemas.openxmlformats.org/officeDocument/2006/relationships/notesSlide" Target="/ppt/notesSlides/notesSlide7.xml" Id="R955eb1bbbff9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d807950fe487e" /><Relationship Type="http://schemas.openxmlformats.org/officeDocument/2006/relationships/notesSlide" Target="/ppt/notesSlides/notesSlide8.xml" Id="Rda1bc111701641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a0fc5dcaa54bf9" /><Relationship Type="http://schemas.openxmlformats.org/officeDocument/2006/relationships/notesSlide" Target="/ppt/notesSlides/notesSlide9.xml" Id="R71f91b8ff524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838D4-B3C6-41CE-A10C-9748D11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7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d21a95a0049b3"/>
          <a:stretch xmlns:a="http://schemas.openxmlformats.org/drawingml/2006/main"/>
        </p:blipFill>
        <p:spPr>
          <a:xfrm xmlns:a="http://schemas.openxmlformats.org/drawingml/2006/main">
            <a:off x="800100" y="5524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BAD4C-49C9-4F2D-AB9C-DA777C8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B6FF"/>
                </a:solidFill>
              </a:defRPr>
            </a:pPr>
            <a:r>
              <a:rPr sz="1125" b="1">
                <a:solidFill>
                  <a:srgbClr val="8BB6FF"/>
                </a:solidFill>
              </a:rPr>
              <a:t>公司内部技术分享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18655-ED96-4523-A1A9-405E6DE8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581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从重复造轮子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到统一交付能力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D3A4A-008B-4885-9CD3-4429BFB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F"/>
                </a:solidFill>
              </a:defRPr>
            </a:pPr>
            <a:r>
              <a:rPr sz="1575" b="0">
                <a:solidFill>
                  <a:srgbClr val="D7E5FF"/>
                </a:solidFill>
              </a:rPr>
              <a:t>sybz-components 如何让业务页面开发更快、体验更统一、维护成本更低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11802-6563-4742-A5B0-1E30AACB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7B4F3-F3BA-4D65-B9D2-E61D21A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Element 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D1603-5371-42B1-B598-AAEEF4F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业务沉淀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0DD8E-71CC-4EF8-AA3B-A858DD9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B8D4"/>
                </a:solidFill>
              </a:defRPr>
            </a:pPr>
            <a:r>
              <a:rPr sz="1350" b="1">
                <a:solidFill>
                  <a:srgbClr val="00B8D4"/>
                </a:solidFill>
              </a:rPr>
              <a:t>一次沉淀，多项目复用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89F80-19BC-4587-B430-BB254B0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85800"/>
            <a:ext cx="4476750" cy="54864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E77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DCD4F-FBBE-4C3C-92FC-191C8B18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858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FDED4-E3C3-43A8-9A68-892CA9E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0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A9910-2F4E-4958-8E2F-CC94B4FF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0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2170C-A6E4-45D8-A1DB-3412F3EC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04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FE9E1-90E2-4C09-8141-F5D58B5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66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业务页面组件组合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953A5-EF2F-45D9-9A4F-2274FCE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5DFF"/>
                </a:solidFill>
              </a:defRPr>
            </a:pPr>
            <a:r>
              <a:rPr sz="1575" b="1">
                <a:solidFill>
                  <a:srgbClr val="165DFF"/>
                </a:solidFill>
              </a:rPr>
              <a:t>&lt;s-form /&gt;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EE390-0FC5-41DA-9821-2EF5C247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811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5DFF"/>
                </a:solidFill>
              </a:defRPr>
            </a:pPr>
            <a:r>
              <a:rPr sz="1575" b="1">
                <a:solidFill>
                  <a:srgbClr val="165DFF"/>
                </a:solidFill>
              </a:rPr>
              <a:t>&lt;s-table /&gt;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8A0CE-66D1-4315-BAD2-EB8B6C47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A36D"/>
                </a:solidFill>
              </a:defRPr>
            </a:pPr>
            <a:r>
              <a:rPr sz="1575" b="1">
                <a:solidFill>
                  <a:srgbClr val="12A36D"/>
                </a:solidFill>
              </a:rPr>
              <a:t>&lt;s-dialog /&gt;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99A48-A5B6-467C-81F1-EF0A45BE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A36D"/>
                </a:solidFill>
              </a:defRPr>
            </a:pPr>
            <a:r>
              <a:rPr sz="1575" b="1">
                <a:solidFill>
                  <a:srgbClr val="12A36D"/>
                </a:solidFill>
              </a:rPr>
              <a:t>&lt;s-tooltip /&gt;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D59F0-9574-4912-986E-ADCB54F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theme="chenghua"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2C3E3-B591-46F0-95E3-5E281C8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B8D4"/>
                </a:solidFill>
              </a:defRPr>
            </a:pPr>
            <a:r>
              <a:rPr sz="1350" b="1">
                <a:solidFill>
                  <a:srgbClr val="00B8D4"/>
                </a:solidFill>
              </a:rPr>
              <a:t>@sybz-components/utils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718AA-DD3E-4DDC-9FFB-BE70A30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86375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统一默认值 · 类型提示 · 文档示例</a:t>
            </a:r>
          </a:p>
        </p:txBody>
      </p:sp>
    </p:spTree>
    <p:extLst>
      <p:ext uri="{BB962C8B-B14F-4D97-AF65-F5344CB8AC3E}">
        <p14:creationId xmlns:p14="http://schemas.microsoft.com/office/powerpoint/2010/main" val="316784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C3FEE-A3E2-4E56-AEBD-C1F37D9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先看痛点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80E22-2854-44D4-B237-8513EB4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02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31326-7E9F-445B-A342-6D488B6F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FD98E-9947-43D4-A64F-E8998AB2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3FA34-BE0A-4151-8F44-32B0DCDA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不用统一组件库，问题不是“写得慢”这么简单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A1F63-62E8-4D4E-A9EC-25A93CF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它会把一次需求拆成多次实现、多轮沟通和长期维护。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C2035-50EC-47B5-B89C-6DFBC1D6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BA5D0-7D36-4B28-8182-3F6099E3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804F7-C878-42E4-9411-11C7B2DD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重复封装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7A4A4-8D85-4F03-8446-7998A7B7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每个项目都要重新处理表格、表单、弹窗、分页与空状态。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0250C-897B-45E9-B677-DEF2A2D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89000-966B-4E8A-8A8C-DBBF92DE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14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9EC3D-E247-439C-BEE6-CC74FAC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体验分裂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47A1C-3433-4A1A-B518-E28AE98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相似功能却有不同默认值、按钮间距、校验提示和加载反馈。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74F0B-F306-421C-A6E0-03A21AAA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DCFBC-16E0-4C20-AA68-4B62B61D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8E609-C306-435E-AED6-BDF9D45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维护扩散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F4672-B6B2-437E-BAD6-ECB5BB7F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一个通用问题，需要在多个项目分别定位、修复和回归。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673-C504-4CD7-A44E-E7AD85C6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3CFD8-0BC9-4979-932A-CEB9D3B0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F42C0-FCA8-4B65-BC01-420A00D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交接困难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59FDD-EA33-4690-A852-6F585B93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057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新成员需要先学习每个项目的私有封装和隐性规范。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292EC-F462-418E-8737-A9DE67D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00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结果：研发成本随着项目数量线性累积，且难以形成组织资产。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CAFB1-7C1E-4869-9D7A-5C70816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480666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CF40E-8877-42FA-93E1-9CA463BD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成本如何放大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9BB4-5695-4BAA-863A-D9470039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03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25848-6E9E-4F8E-8773-103AF0C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51E46-3E4C-4E0D-8E80-A2E8B03B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A7DB9-73AF-4103-82C4-9DA9681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同一个需求，在每个项目都要重新走一遍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2B2A5-A85B-4321-9160-694A7B5F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没有共享组件层时，重复实现会逐步演变为重复缺陷。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DEEEF-EEA2-4498-A7F8-35F5D93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21336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7D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4E41A-0F47-416D-8D08-D67B8B2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583BE-F828-47B0-8249-A23D8389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C031C-10F4-4764-AC77-E4688BE9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需求出现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6FD1E-3A0D-4A90-963D-91232571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例如：带筛选、分页、空状态的列表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A58A1-7CC4-4C7C-B1B8-0B51E750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861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6239F-3713-48EA-8E7E-6D4C6AE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1336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7DA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0F923-69D0-4794-AEA4-8355F735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F6217-3129-4F58-B954-51F6C0CA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289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C170F-DE7C-42DA-904D-9D8541A0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项目 A 封装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1EFCA-3867-48F9-8271-9E206DCE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43325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形成局部写法与样式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1C4CB-2CB3-48C2-9F62-D693EB77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861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B40AC-C890-450D-B3A8-6615EE27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336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7DA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96628-1E8F-4D67-AF0C-914077AD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991CF-3B70-48F8-B0D2-8E7BF95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289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85A06-D9E1-46CE-A43A-625332F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项目 B 再实现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17F19-D186-41FF-A081-DFE44377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重复处理交互与边界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08F8A-7A01-4ED4-A54D-614E080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861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9F6DC-8845-4D36-BFC4-58688BA2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05125"/>
            <a:ext cx="21336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3F2"/>
          </a:solidFill>
          <a:ln xmlns:a="http://schemas.openxmlformats.org/drawingml/2006/main" w="9525">
            <a:solidFill>
              <a:srgbClr val="F7C2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28B23-077C-4558-A0F2-B8A4881F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64D5C-906D-4BA2-B5D0-6700398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2897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733326-C825-488D-B36C-CD58F57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问题分别修复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DC8F2-D36E-4A24-92FB-98FECB33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43325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维护与回归成本持续叠加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4649E-00F5-4E3F-BCF3-96F16B4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项目越多，重复建设越多；“局部最优”最终会变成团队的整体负担。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81A1A-2F28-4937-8A1B-415078A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1070013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69142-EAAE-44E7-811B-44AEA84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组件库定位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BE457-FF63-4EFC-8CE7-E7D768BD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04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2DC1B-B56D-4B86-A823-F3D58C13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79B1E-751B-4B71-A301-F097AAC2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4E3D-BE76-4CE2-AE9C-BDCBE9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sybz-components：把高频业务能力变成共享基础设施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2FA92-9218-4A97-A284-AFC7CF4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它建立在 Vue 3 + Element Plus 之上，保留原生兼容性，同时补齐业务场景。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7152E-230C-4530-A6FE-25423E4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7810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3DE74-0151-478E-864E-D42173A2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33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5DFF"/>
                </a:solidFill>
              </a:defRPr>
            </a:pPr>
            <a:r>
              <a:rPr sz="1425" b="1">
                <a:solidFill>
                  <a:srgbClr val="165DFF"/>
                </a:solidFill>
              </a:rPr>
              <a:t>业务页面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E6717-4160-4B9F-B05F-9D6B9F15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页面只关注业务数据、流程和权限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4167F-484B-48E0-9F65-F73E3268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28975"/>
            <a:ext cx="7162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F8F5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7DBBE-0E23-4280-B588-B0E28F5F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623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A36D"/>
                </a:solidFill>
              </a:defRPr>
            </a:pPr>
            <a:r>
              <a:rPr sz="1425" b="1">
                <a:solidFill>
                  <a:srgbClr val="12A36D"/>
                </a:solidFill>
              </a:rPr>
              <a:t>sybz-components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88AC7-3E20-4832-BA0C-E45C3BC6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表单、表格、弹窗、布局、提示、图表、主题、指令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E1802-FBA9-4D2E-B3AE-26E6816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57650"/>
            <a:ext cx="65151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2D269-81A7-4659-836F-655286E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91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</a:defRPr>
            </a:pPr>
            <a:r>
              <a:rPr sz="1425" b="1">
                <a:solidFill>
                  <a:srgbClr val="F59E0B"/>
                </a:solidFill>
              </a:rPr>
              <a:t>Element Plus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518A5-8DCF-4286-9D80-DBAD32E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稳定的通用交互能力与成熟生态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FAB56-54FD-467C-A179-B707CA21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86325"/>
            <a:ext cx="58674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56DD8-81F0-446D-A2B1-AB6C025C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967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085"/>
                </a:solidFill>
              </a:defRPr>
            </a:pPr>
            <a:r>
              <a:rPr sz="1425" b="1">
                <a:solidFill>
                  <a:srgbClr val="667085"/>
                </a:solidFill>
              </a:rPr>
              <a:t>Vue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2AF0D-12EA-4D88-8389-A744981D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响应式框架与工程基础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44F13-73E9-4AFC-A097-F460105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238375" cy="24288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B9BF7-71B1-4F0E-AC00-181D8115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88972-0A88-4AB9-8811-77C11EB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38425"/>
            <a:ext cx="1838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核心原则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6C38C-C97A-4696-A2D7-A44B136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57525"/>
            <a:ext cx="181927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业务页优先复用组件与工具函数；通用问题优先在组件库解决；页面不再散落重复样式与交互逻辑。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C0514-33E6-4877-84F5-E267A12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979598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52889-908A-424D-9BB7-9F7A7A4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直接开发收益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7FA7E-F308-496D-8FB7-49632121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05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95248-ACE7-42F6-A5E7-5CD8199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54801-9E21-41E8-8D5A-239D983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16AE3-FE0D-4770-A013-E63A4D85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把时间从“搭基础能力”还给业务交付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17A9A-B4D1-41D9-BE9F-6EE047D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组件提供合理默认值、配置化用法与常见边界处理。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5C2C1-552B-4FFD-9944-8E68C5DB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000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C4B8A-DB21-4788-8D08-02D7089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65D1-F6F9-446C-A456-5AD9B72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5747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不使用组件库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305AB-398F-4178-9706-B9DB7A9D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76575"/>
            <a:ext cx="3581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每个页面分别处理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表单控件与校验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表格、分页与空状态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弹窗和确认操作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文本溢出与提示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主题色与间距细节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63D69-E638-4792-B313-7967AEDA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62325"/>
            <a:ext cx="142875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BDB2-6125-4E93-B154-61B073E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7F5F-EE0F-41D1-AE27-43FD5DA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47925"/>
            <a:ext cx="4000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A7223-573E-49DF-92E6-29A9037B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479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E3C9C-3AEA-450B-8673-1565F667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57475"/>
            <a:ext cx="3600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使用 sybz-components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82076-8560-4F84-8735-883D2F1E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35814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页面优先组合现有能力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SForm / STable / SDescriptions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SDialog / SPopconfirm / SWarning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STooltip / SEmpty / SFlex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统一默认值与属性透传</a:t>
            </a:r>
          </a:p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• 主题 token 与组件 theme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56771-8DEA-4303-8F87-4A55A79D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收益不是少写几个标签，而是少维护一套重复的设计与交互决策。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EF5AC-E656-47DD-8C81-48105E6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328492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238B3-30C4-4ADD-B90F-881ED91A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体验与品牌一致性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C200A-9EBF-4D58-A69C-F7EC9B13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06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CB82-C55F-4B14-9EF0-BE50A9BB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FA76C-F47F-4802-BB13-8A899D9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665F3-96DF-440C-991C-1EA8D7E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同一套组件，让用户在不同项目中看到一致的行为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B30A7-DE49-427D-A0FD-E36B8479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默认值、状态反馈、操作间距、主题颜色和交互细节由组件层统一。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5BF24-68DE-4547-9D88-7158968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962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C06FB-4776-411F-995F-11D46D44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827BF-B3E4-49D9-9F3E-B32B514D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4909A-1AB1-45C8-ABD3-88EED97D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765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加载、防抖、确认、错误提示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FDA4C-46BB-4138-9BF9-4728136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962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21389-E3C1-4438-B033-51D2ECE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A652-49DC-469C-80F2-A423670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432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视觉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C6B8C-E882-41DA-8703-2DAA898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4327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尺寸、圆角、间距、空状态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E1208-1D6A-410D-9B05-3235D049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962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ECE51-2DC4-4E32-B1D5-78B0CE93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1628D-9010-4148-9D06-0EADAAC6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0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主题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3288A-5101-41CF-B656-6E28F897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default / chenghua / shijingshan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7CBDF-E079-4873-B98A-68EFBD59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962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4AC4B-C8C9-46F6-981B-BC2A1D0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A748F-5978-4542-8638-DA31B79A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767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BC193-F899-4139-9CD0-7CAFBD0D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7677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项目级与组件级默认属性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FE23C-4B01-410E-B448-9A321F3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theme="chenghua"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A5E37-895C-47F1-A65C-186CB389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768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theme="shijingshan"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4BF5F-88E2-46B8-BC12-A39975E6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主题切换不依赖业务页面散落的硬编码颜色。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96171-2F33-402B-9347-B2597AC2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1925188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0F8D7-4836-4F4D-AD23-1917A66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工程质量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DBF3-6F67-4612-8C66-C2DC2AA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07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38BF0-3A18-478F-ACFF-26358268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55A50-47F4-486A-8A67-1DE58A0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939B3-D0C5-47C9-978F-5424CF0C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兼容原生能力，同时把规范前置到开发阶段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4A82F-38FF-4426-80A6-BB630EFA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开发人员无需在“复用组件”和“保留 Element Plus 能力”之间二选一。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1B332-2FDA-42FB-959D-191C0B1B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443FB-43E7-4488-8A2A-5348E0E5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C9BA3-0254-4389-88A7-5B7FE035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TypeScript 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E3B83-FE02-4A5A-85F6-51D65F91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819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组件类型同时覆盖 sybz 扩展属性和 Element Plus 原生属性；属性、事件与插槽更易发现。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DB34E-5DE9-4529-B058-170BC6F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3DFFD-E690-49FB-BF9A-989F196F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56CD5-7D72-4612-AE46-794CE2D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全局默认配置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F39DF-FB39-4F8B-8259-FB7844D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819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入口统一设置 theme、size 及组件默认属性，减少页面重复传参。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9BBC5-DC0E-4C30-819A-6E9A1F28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6D4CB-9E74-4418-A72E-0642EE7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34590-C362-4E09-BCD1-CA198526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文档驱动使用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45CE2-01B3-4941-B2A7-84003AC9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819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基础用法、属性默认值、主题示例和常见场景可直接查看与复制。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54C20-3039-4C46-B248-E102D15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工程结果：更少“口头约定”，更多可发现、可复用、可维护的标准。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2BD62-7B0B-4A4D-B51D-E9E3D673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622482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2543-9520-4FF0-9DFB-BEA436C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团队协作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8EFCB-BE0A-4870-B546-C2CAB187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08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E7282-7855-4BBD-8490-08A1E36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5F6E2-E2F0-4AEE-980B-80782009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E4D98-0F5C-4599-9C33-24DB37E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组件、工具函数、文档与 AI 指引，共用一套工作语言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E7B58-FFC5-4D56-8865-4ECF8F2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让新成员和跨项目协作不再从“先找私有封装”开始。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575F7-8044-40B2-B1A3-E65B6EA1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06596-48DF-4591-88C4-4A7EAD3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6985F-5ECC-4F5D-94DC-00478A7E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F0304-584F-4A07-BE87-0B54414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527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开发者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6B6D6-D29A-4026-BBD6-84CD849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优先使用 S 组件与 @sybz-components/utils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217EF-438F-4B6F-A37A-B7285FCA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5B578-3227-4BD5-BD4B-71B9E029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56CA0-58CF-402C-A49D-CF6624C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E47DA-7FDA-4B71-A7AE-A826E366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527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项目负责人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85CA2-F14F-491E-AD0E-8FA826BF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用全局默认配置控制项目级规范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786F0-C384-41F3-809C-AEA4E11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59C07-9081-4857-90A4-052A9E1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7A621-DC13-49DA-B7DB-5A240886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35157-66FE-4E82-BFC6-A0A1594E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3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组件维护者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B61B6-5D63-4232-903D-465B420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通用问题在组件库修复并回流所有项目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83B2D-E7FD-44AF-88B3-2155E9A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04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2745F-18B5-43E8-B927-E3CA6FC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3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4A158-E80D-4DA3-A7AD-A08CF6C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B1C65-9307-4187-B9C2-A7965F31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AI 辅助开发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C3203F-C61C-4F44-A39E-64CA537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67225"/>
            <a:ext cx="3762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Codex Skill 引导优先复用组件、工具函数与主题规范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E2464-E582-4F10-921E-138A285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15179783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3007B-08B5-4565-A3FB-0F43608C75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4752-97D2-493F-B793-0132D50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5DFF"/>
                </a:solidFill>
              </a:defRPr>
            </a:pPr>
            <a:r>
              <a:rPr sz="975" b="1">
                <a:solidFill>
                  <a:srgbClr val="165DFF"/>
                </a:solidFill>
              </a:rPr>
              <a:t>建议的推广方式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E44F-C9F4-4806-805C-BF2D258F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52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09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E565E-9377-4B69-8D45-B0EBF2B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553C0-0383-4A2B-BFBA-B403ECB8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52F30-7AEA-4B18-A06C-BDEC9264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从新页面开始，让组件库成为默认方案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0EBA9-AB7A-4D2D-B277-EAB4F33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不要求一次性重构所有历史页面，而是在增量交付中持续扩大复用面。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09723-7806-4FD4-AD8C-26C8526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6A30F-39FE-40A1-BC80-F41AF31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5DFF"/>
                </a:solidFill>
              </a:defRPr>
            </a:pPr>
            <a:r>
              <a:rPr sz="187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B0557-4F26-491A-9C99-3B6A914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新页面优先使用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2B40A-26C5-46BF-8F86-08DC1E8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表单、表格、弹窗、布局和提示优先从组件库选择。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C5F9E-3F2A-4905-9F1C-7C40289E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1D7B6-7ACD-4A48-AFA2-D53A24F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95575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9B0B2-B0B8-47C7-AD14-146A5184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051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5DFF"/>
                </a:solidFill>
              </a:defRPr>
            </a:pPr>
            <a:r>
              <a:rPr sz="1875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8191C-0292-44D1-B7EE-6B361F5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高频重复场景回流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A12D1-5C15-43C4-B592-E158C2C9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跨项目重复出现的能力，抽象后沉淀到组件库。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85974-53F0-4372-A1EB-EAF4065C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266B2-7C34-41B6-86B8-24BF6D0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95575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69085-40DC-4096-966B-BC2BCE4A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5DFF"/>
                </a:solidFill>
              </a:defRPr>
            </a:pPr>
            <a:r>
              <a:rPr sz="1875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9426A-CDA2-4E09-AE61-302F8AC2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项目级默认配置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91D63-916A-495C-A5A5-16734AA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统一主题、尺寸与通用默认属性，降低页面差异。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13F99-0190-42AD-BE42-8F81B771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8211D-9006-4F8B-8FE3-727E998B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95575"/>
            <a:ext cx="23622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A168D-9AB2-41A3-AC04-8F32DAB3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051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5DFF"/>
                </a:solidFill>
              </a:defRPr>
            </a:pPr>
            <a:r>
              <a:rPr sz="1875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4CAEB1-E59B-4185-9891-826008DC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版本升级复用修复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98B12-7400-458F-B33E-C8378002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1885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通用问题集中修复，项目升级后共享收益。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BD64D4-0F7B-4191-9D6E-9E3DE09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从“可选工具”逐步变成“团队默认的组件层”。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AA365-C795-451E-91E0-E3429D0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sybz-components · Vue 3 + Element Plus 业务组件层</a:t>
            </a:r>
          </a:p>
        </p:txBody>
      </p:sp>
    </p:spTree>
    <p:extLst>
      <p:ext uri="{BB962C8B-B14F-4D97-AF65-F5344CB8AC3E}">
        <p14:creationId xmlns:p14="http://schemas.microsoft.com/office/powerpoint/2010/main" val="1078348157"/>
      </p:ext>
    </p:extLst>
  </p:cSld>
</p:sld>
</file>

<file path=ppt/theme/theme1.xml><?xml version="1.0" encoding="utf-8"?>
<a:theme xmlns:a="http://schemas.openxmlformats.org/drawingml/2006/main" name="Sybz">
  <a:themeElements>
    <a:clrScheme name="Sybz">
      <a:accent1>
        <a:srgbClr val="165DFF"/>
      </a:accent1>
      <a:accent2>
        <a:srgbClr val="00B8D4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ybz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2026-07-23T03:39:57.9330000Z</dcterms:created>
  <dcterms:modified xsi:type="dcterms:W3CDTF">2026-07-23T03:39:57.9330000Z</dcterms:modified>
</coreProperties>
</file>